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quipo y unidad de análisis" id="{76418694-afcb-e236-adc2-96566602cfd8}">
          <p14:sldIdLst>
            <p14:sldId id="256"/>
            <p14:sldId id="257"/>
            <p14:sldId id="258"/>
          </p14:sldIdLst>
        </p14:section>
        <p14:section name="Modelo de negocio" id="{5f54341f-8645-4461-bcf6-43e29ad494f5}">
          <p14:sldIdLst>
            <p14:sldId id="259"/>
          </p14:sldIdLst>
        </p14:section>
        <p14:section name="Diagnóstico" id="{39936f4b-0c25-3578-2168-e62d8ff34bd8}">
          <p14:sldIdLst>
            <p14:sldId id="260"/>
            <p14:sldId id="261"/>
            <p14:sldId id="262"/>
            <p14:sldId id="263"/>
          </p14:sldIdLst>
        </p14:section>
        <p14:section name="Ruta y alcance" id="{65493156-ece9-0086-52cd-bd885c56819b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Presentamos al equipo consultor y el objetivo de la sesión: que TALENT sepa con claridad qué va a recibir de la consultoría y qué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se presenta en una frase. Aclarar que Bárbara es la fundadora de TALENT: participa como cliente y no calificó el diagnóstico.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comprometernos verificamos que TALENT cumple el perfil que exige el curso. Si ya fuera una sociedad, no habría formalización que diagnosticar.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modelo que reconstruimos con la fundadora. Es la línea base de los cuatro TA. Diferencial: no solo presta el servicio, deja el área funcionando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diagnóstico no se llenó por suposición: se aplicó con la fundadora y cada respuesta tiene su soporte en el Data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central: el producto y la marca están listos, lo que falta es la estructura legal. Ocho de doce aspectos todavía no se cumplen.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regla: seguridad social, licencia SST por medio de la aliada y portafolio. El resto está por resolver.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hallazgos y una fortaleza. Subrayar el 03: TALENT va a manejar datos sensibles de empleados de otras empresas sin política ni contratos.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TA1 resuelve formalización, tipo de empresa y marca; TA2 contratos y datos; TA3 la sostenibilidad del negocio; TA4 cierra con la entrega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clave para el cliente: qué va a recibir y qué no. Las decisiones y los trámites quedan a cargo de la fundadora.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Lente ética del módulo: explicar al cliente qué hacemos con su información, quién la ve y qué pasa si el diagnóstico es desfavorable.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compromisos concretos del cliente y la fecha de la próxima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Agradecer, abrir espacio para preguntas del cliente y confirmar la próxima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E6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 · DIAGNÓSTICO INICIAL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A">
    <p:bg>
      <p:bgPr>
        <a:solidFill>
          <a:srgbClr val="F3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D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 · DIAGNÓSTICO INICIAL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ENA">
    <p:bg>
      <p:bgPr>
        <a:solidFill>
          <a:srgbClr val="E5D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D4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20040"/>
            <a:ext cx="4572000" cy="200253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ACCOUNTABILITY · DIAGNÓSTICO INICIAL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88036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66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6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TALENT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800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encontramos, lo que vamos a trabajar durante ocho semanas y lo que queda por fuera.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064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consultor · Laboratorio de Ideas: Creación de Empresa · CEIPA · Docente Santiago Arias Torres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EQUIPO CONSULTOR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consultoras para TALENT</a:t>
            </a:r>
            <a:endParaRPr lang="en-US" sz="4000" dirty="0"/>
          </a:p>
        </p:txBody>
      </p:sp>
      <p:pic>
        <p:nvPicPr>
          <p:cNvPr id="4" name="Image 0" descr="Bárbara Villada Valderram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2011680" cy="2240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Bárbara Villada Valderrama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Fundadora de TALENT · cliente</a:t>
            </a:r>
            <a:endParaRPr lang="en-US" sz="1300" dirty="0"/>
          </a:p>
        </p:txBody>
      </p:sp>
      <p:pic>
        <p:nvPicPr>
          <p:cNvPr id="7" name="Image 1" descr="Lina Marcela Cataño Fernández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07208" y="1965960"/>
            <a:ext cx="2011680" cy="2240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807208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 Marcela Cataño Fernández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2807208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Debida diligencia</a:t>
            </a:r>
            <a:endParaRPr lang="en-US" sz="1300" dirty="0"/>
          </a:p>
        </p:txBody>
      </p:sp>
      <p:pic>
        <p:nvPicPr>
          <p:cNvPr id="10" name="Image 2" descr="Diana Marcela Salazar Ramírez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65776" y="1965960"/>
            <a:ext cx="2011680" cy="22402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065776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Marcela Salazar Ramírez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065776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Debida diligencia</a:t>
            </a:r>
            <a:endParaRPr lang="en-US" sz="1300" dirty="0"/>
          </a:p>
        </p:txBody>
      </p:sp>
      <p:pic>
        <p:nvPicPr>
          <p:cNvPr id="13" name="Image 3" descr="Yurany Posada Sánchez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24344" y="1965960"/>
            <a:ext cx="2011680" cy="22402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24344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Yurany Posada Sánchez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7324344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 y seguimiento</a:t>
            </a:r>
            <a:endParaRPr lang="en-US" sz="1300" dirty="0"/>
          </a:p>
        </p:txBody>
      </p:sp>
      <p:pic>
        <p:nvPicPr>
          <p:cNvPr id="16" name="Image 4" descr="Carolina Flórez Rúa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82912" y="1965960"/>
            <a:ext cx="2011680" cy="22402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582912" y="4389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Carolina Flórez Rúa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9582912" y="51206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UNIDAD DE ANÁLISIS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TALENT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ya opera: tiene página web, redes, portafolio y está buscando clientes. Pero todavía no está formalizada, y eso es justo lo que trabaja esta consultoría.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5120640" cy="1051560"/>
          </a:xfrm>
          <a:prstGeom prst="roundRect">
            <a:avLst>
              <a:gd name="adj" fmla="val 13043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114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el perfil: emprendimiento real, verificable y no formalizado.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99516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constituida como sociedad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en el RUES por nombre y cédula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0" y="2788920"/>
            <a:ext cx="525780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953512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29077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matrícula mercantil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33192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RUES y respuesta de la fundadora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0" y="3776472"/>
            <a:ext cx="525780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3941064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895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y se puede verificar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3068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Instagram @talent.hhrr, correo y portafolio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4764024"/>
            <a:ext cx="525780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4928616"/>
            <a:ext cx="384048" cy="384048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0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48828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actividad económica real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6995160" y="52943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Planes, precios y prospección de empresas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MODELO DE NEGOCIO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funciona TALENT hoy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167128" cy="2889504"/>
          </a:xfrm>
          <a:prstGeom prst="roundRect">
            <a:avLst>
              <a:gd name="adj" fmla="val 4219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SOCIOS CLAVE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18928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Asesora SST con licencia, operador de PILA, contador y abogado laboral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70632" y="1828800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07792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ACTIVIDADES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907792" y="2286000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Nómina, selección, SG-SST, políticas y capacitación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70632" y="3300984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07792" y="343814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RECURSOS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907792" y="3758184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de la fundadora, marca, web y plataforma propia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92624" y="1828800"/>
            <a:ext cx="2167128" cy="2889504"/>
          </a:xfrm>
          <a:prstGeom prst="roundRect">
            <a:avLst>
              <a:gd name="adj" fmla="val 4219"/>
            </a:avLst>
          </a:prstGeom>
          <a:solidFill>
            <a:srgbClr val="0F0F0F"/>
          </a:solidFill>
          <a:ln w="12700">
            <a:solidFill>
              <a:srgbClr val="0F0F0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9784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PROPUESTA DE VALOR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129784" y="2286000"/>
            <a:ext cx="18928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y manejar el área de RRHH con tecnología, y acompañarla hasta que funcione sola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214616" y="1828800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51776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RELACIÓN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51776" y="2286000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inicial y acompañamiento mensual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14616" y="3300984"/>
            <a:ext cx="2167128" cy="1417320"/>
          </a:xfrm>
          <a:prstGeom prst="roundRect">
            <a:avLst>
              <a:gd name="adj" fmla="val 6452"/>
            </a:avLst>
          </a:prstGeom>
          <a:solidFill>
            <a:srgbClr val="E8E0D2"/>
          </a:solidFill>
          <a:ln w="12700">
            <a:solidFill>
              <a:srgbClr val="E8E0D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51776" y="343814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CANALES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351776" y="3758184"/>
            <a:ext cx="189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redes, WhatsApp, correo y referidos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436608" y="1828800"/>
            <a:ext cx="2167128" cy="2889504"/>
          </a:xfrm>
          <a:prstGeom prst="roundRect">
            <a:avLst>
              <a:gd name="adj" fmla="val 4219"/>
            </a:avLst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73768" y="19659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573768" y="2286000"/>
            <a:ext cx="189280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Pymes y startups desde 1 empleado, primero en Antioquia y luego en toda Colombia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73168"/>
            <a:ext cx="5500116" cy="1051560"/>
          </a:xfrm>
          <a:prstGeom prst="roundRect">
            <a:avLst>
              <a:gd name="adj" fmla="val 8696"/>
            </a:avLst>
          </a:prstGeom>
          <a:solidFill>
            <a:srgbClr val="DCCFB6"/>
          </a:solidFill>
          <a:ln w="12700">
            <a:solidFill>
              <a:srgbClr val="DCCFB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910328"/>
            <a:ext cx="5225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COSTOS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230368"/>
            <a:ext cx="52257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la fundadora, herramientas digitales, publicidad, aliados y formalización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03620" y="4773168"/>
            <a:ext cx="5500116" cy="1051560"/>
          </a:xfrm>
          <a:prstGeom prst="roundRect">
            <a:avLst>
              <a:gd name="adj" fmla="val 8696"/>
            </a:avLst>
          </a:prstGeom>
          <a:solidFill>
            <a:srgbClr val="DCCFB6"/>
          </a:solidFill>
          <a:ln w="12700">
            <a:solidFill>
              <a:srgbClr val="DCCFB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40780" y="4910328"/>
            <a:ext cx="5225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INGRESOS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40780" y="5230368"/>
            <a:ext cx="52257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mensuales según número de empleados, proyectos de SG-SST, diagnóstico de RRHH y planes a la medida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CÓMO LO HICIMOS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diagnóstico con evidencia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3108960"/>
          </a:xfrm>
          <a:prstGeom prst="roundRect">
            <a:avLst>
              <a:gd name="adj" fmla="val 4412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aspectos revisados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947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cinco frentes: registro, tributario, seguridad social, contratos y datos, marca y operación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920240"/>
            <a:ext cx="3566160" cy="3108960"/>
          </a:xfrm>
          <a:prstGeom prst="roundRect">
            <a:avLst>
              <a:gd name="adj" fmla="val 4412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45152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4645152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octubre de 2026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37947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virtual por Google Meet con la fundadora de TALENT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01584" y="1920240"/>
            <a:ext cx="3566160" cy="3108960"/>
          </a:xfrm>
          <a:prstGeom prst="roundRect">
            <a:avLst>
              <a:gd name="adj" fmla="val 4412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21624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600" dirty="0"/>
          </a:p>
        </p:txBody>
      </p:sp>
      <p:sp>
        <p:nvSpPr>
          <p:cNvPr id="14" name="Text 12"/>
          <p:cNvSpPr txBox="1"/>
          <p:nvPr/>
        </p:nvSpPr>
        <p:spPr>
          <a:xfrm>
            <a:off x="8421624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consultoras aplicaron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21624" y="37947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Salazar y Lina Cataño, sin conflicto de interés con el cliente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Soportes: </a:t>
            </a:r>
            <a:pPr indent="0" marL="0">
              <a:buNone/>
            </a:pPr>
            <a:r>
              <a:rPr lang="en-US" sz="16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pantallazos de la reunión, acta firmada, consulta RUES, RUT, planilla PILA y licencia SST de la aliada.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6B5D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RESULTADO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0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está lista para vender, pero no para facturar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48640" y="4206240"/>
            <a:ext cx="2743200" cy="0"/>
          </a:xfrm>
          <a:prstGeom prst="line">
            <a:avLst/>
          </a:prstGeom>
          <a:noFill/>
          <a:ln w="31750">
            <a:solidFill>
              <a:srgbClr val="14120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3891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349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520440" y="4206240"/>
            <a:ext cx="2743200" cy="0"/>
          </a:xfrm>
          <a:prstGeom prst="line">
            <a:avLst/>
          </a:prstGeom>
          <a:noFill/>
          <a:ln w="31750">
            <a:solidFill>
              <a:srgbClr val="14120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43891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5349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parcialmente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92240" y="4206240"/>
            <a:ext cx="5120640" cy="0"/>
          </a:xfrm>
          <a:prstGeom prst="line">
            <a:avLst/>
          </a:prstGeom>
          <a:noFill/>
          <a:ln w="31750">
            <a:solidFill>
              <a:srgbClr val="8C3B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43891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8C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6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53492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cumplen, de 12 aspectos revisados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D4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DETALLE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aspectos, uno por uno</a:t>
            </a:r>
            <a:endParaRPr lang="en-US" sz="4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91440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554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 en Cámara de Comercio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empresa definido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 con la actividad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A6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Facturación electrónica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Régimen tributario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social independiente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74520"/>
          <a:ext cx="91440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554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5D9C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Contrato modelo con clientes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datos personales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 registrada ante la SIC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Licencia SST (aliada)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Cuenta bancaria separada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C3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7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Portafolio y precios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E6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6D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HALLAZGOS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encontramos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29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FORMALIZACIÓN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matrícula, facturación electrónica ni cuenta bancaria propia. Hoy no puede facturarles a las pymes que quiere tener como clientes.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2029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TIPO DE EMPRESA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decidir entre persona natural o S.A.S. De esa decisión dependen los demás trámites y la llegada de inversionistas.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6301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CONTRATOS Y DATOS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977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contrato con clientes ni política de datos, aunque manejará nómina e incapacidades de terceros. Es el riesgo más alto.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3429000"/>
            <a:ext cx="5440680" cy="1463040"/>
          </a:xfrm>
          <a:prstGeom prst="roundRect">
            <a:avLst>
              <a:gd name="adj" fmla="val 9375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6301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MARCA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977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está registrada y “Talent” es una palabra muy común en RRHH. Hay que revisar si se puede registrar.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868680"/>
          </a:xfrm>
          <a:prstGeom prst="roundRect">
            <a:avLst>
              <a:gd name="adj" fmla="val 15789"/>
            </a:avLst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Fortaleza: </a:t>
            </a:r>
            <a:pPr indent="0" marL="0">
              <a:buNone/>
            </a:pPr>
            <a:r>
              <a:rPr lang="en-US" sz="1700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portafolio claro, marca y web listas, seguridad social al día y una aliada con licencia en SST.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RUTA DE INTERVENCIÓN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trabajamos en cada entrega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606040" cy="64008"/>
          </a:xfrm>
          <a:prstGeom prst="rect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3 · 2–8 nov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TA1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Formalización de entrada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societario, estatutos de la S.A.S. y registrabilidad de la marca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606040" cy="64008"/>
          </a:xfrm>
          <a:prstGeom prst="rect">
            <a:avLst/>
          </a:prstGeom>
          <a:solidFill>
            <a:srgbClr val="C9B48F"/>
          </a:solidFill>
          <a:ln w="12700">
            <a:solidFill>
              <a:srgbClr val="C9B4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5 · 16–22 nov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TA2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 empresarial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Consumidores, términos y condiciones, datos personales y contratos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606040" cy="64008"/>
          </a:xfrm>
          <a:prstGeom prst="rect">
            <a:avLst/>
          </a:prstGeom>
          <a:solidFill>
            <a:srgbClr val="9C8A6B"/>
          </a:solidFill>
          <a:ln w="12700">
            <a:solidFill>
              <a:srgbClr val="9C8A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 7 · 30 nov–6 dic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TA3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 empresarial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financieros, Ley 1116 de 2006 y continuidad del negocio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606040" cy="64008"/>
          </a:xfrm>
          <a:prstGeom prst="rect">
            <a:avLst/>
          </a:prstGeom>
          <a:solidFill>
            <a:srgbClr val="6E675C"/>
          </a:solidFill>
          <a:ln w="12700">
            <a:solidFill>
              <a:srgbClr val="6E67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2423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Semanas 7–8 · 30 nov–11 dic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27889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TA4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3474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Sustentación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052560" y="39776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prepara desde la semana 7 y se entrega a TALENT en la semana 8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7A6A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ALCANCE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A17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recibe TALENT y qué no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4206240"/>
          </a:xfrm>
          <a:prstGeom prst="roundRect">
            <a:avLst>
              <a:gd name="adj" fmla="val 4348"/>
            </a:avLst>
          </a:prstGeom>
          <a:solidFill>
            <a:srgbClr val="0F0F0F"/>
          </a:solidFill>
          <a:ln w="12700">
            <a:solidFill>
              <a:srgbClr val="0F0F0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Sí recibirá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 de tipo de empresa con ventajas y desventajas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a paso para formalizarse: RUT, matrícula y facturación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los estatutos de la S.A.S.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registrabilidad de la marca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modelo, términos y política de datos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riesgos y continuidad del negocio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440680" cy="4206240"/>
          </a:xfrm>
          <a:prstGeom prst="roundRect">
            <a:avLst>
              <a:gd name="adj" fmla="val 4348"/>
            </a:avLst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3796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12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incluye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trámites o pagos a nombre de TALENT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la contabilidad o declarar impuestos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Asesoría legal con responsabilidad de abogado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Radicar y seguir el registro de marca en la SIC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la plataforma tecnológica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inversionistas o clientes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7D6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TU INFORMACIÓN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cuidamos la información de TALENT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3291840"/>
          </a:xfrm>
          <a:prstGeom prst="roundRect">
            <a:avLst>
              <a:gd name="adj" fmla="val 4167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94560"/>
            <a:ext cx="502920" cy="502920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hacemos con ella?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7033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usamos solo para el diagnóstico y los entregables del curso. No la compartimos con terceros.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25112" y="1920240"/>
            <a:ext cx="3566160" cy="3291840"/>
          </a:xfrm>
          <a:prstGeom prst="roundRect">
            <a:avLst>
              <a:gd name="adj" fmla="val 4167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5152" y="2194560"/>
            <a:ext cx="502920" cy="502920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5152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45152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la ve?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45152" y="37033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consultor y el docente. Los documentos personales (RUT, PILA, cédula) no se publican en el Data Room.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01584" y="1920240"/>
            <a:ext cx="3566160" cy="3291840"/>
          </a:xfrm>
          <a:prstGeom prst="roundRect">
            <a:avLst>
              <a:gd name="adj" fmla="val 4167"/>
            </a:avLst>
          </a:prstGeom>
          <a:solidFill>
            <a:srgbClr val="1A1816"/>
          </a:solidFill>
          <a:ln w="12700">
            <a:solidFill>
              <a:srgbClr val="1A18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21624" y="2194560"/>
            <a:ext cx="502920" cy="502920"/>
          </a:xfrm>
          <a:prstGeom prst="ellipse">
            <a:avLst/>
          </a:prstGeom>
          <a:solidFill>
            <a:srgbClr val="E5D9C3"/>
          </a:solidFill>
          <a:ln w="12700">
            <a:solidFill>
              <a:srgbClr val="E5D9C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21624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421624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el resultado es desfavorable?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21624" y="37033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reportamos tal como es, con recomendaciones. Tú decides qué hacer y puedes pedir aclaraciones o retirar información.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D9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Consentimiento informado: </a:t>
            </a:r>
            <a:pPr indent="0" marL="0">
              <a:buNone/>
            </a:pPr>
            <a:r>
              <a:rPr lang="en-US" sz="15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tu aceptación del alcance confirmas que conoces y aceptas este manejo de la información.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· PRÓXIMOS PASOS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necesitamos de TALENT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9D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empezar TA1 el 2 de noviembre, pedimos a la fundadora estos soportes y su aceptación del alcance.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Firmar el acta del diagnóstico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2331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las respuestas del 27 de octubre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788920"/>
            <a:ext cx="534924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9360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9077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los soportes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3192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RUT, planilla PILA y licencia SST de la aliada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3776472"/>
            <a:ext cx="534924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38953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895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Aceptar alcance y uso de datos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430682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recibe, lo que no y cómo cuidamos su información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4764024"/>
            <a:ext cx="5349240" cy="0"/>
          </a:xfrm>
          <a:prstGeom prst="line">
            <a:avLst/>
          </a:prstGeom>
          <a:noFill/>
          <a:ln w="9525">
            <a:solidFill>
              <a:srgbClr val="2E2B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4882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D9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48828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Agendar la sesión de TA1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52943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del 2 de noviembre, por Meet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8968" y="1188720"/>
            <a:ext cx="1280160" cy="1280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371600" y="2697480"/>
            <a:ext cx="9445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0" dirty="0">
                <a:solidFill>
                  <a:srgbClr val="F3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1"/>
          <p:cNvSpPr txBox="1"/>
          <p:nvPr/>
        </p:nvSpPr>
        <p:spPr>
          <a:xfrm>
            <a:off x="1371600" y="39776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39C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consultor · Bárbara, Lina, Diana, Yurany y Carolina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461772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500" kern="0" dirty="0">
                <a:solidFill>
                  <a:srgbClr val="9C8A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 INFRASTRUCTURE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675C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lent">
  <a:themeElements>
    <a:clrScheme name="Talent">
      <a:dk1>
        <a:srgbClr val="0F0F0F"/>
      </a:dk1>
      <a:lt1>
        <a:srgbClr val="F3EFE7"/>
      </a:lt1>
      <a:dk2>
        <a:srgbClr val="1A1816"/>
      </a:dk2>
      <a:lt2>
        <a:srgbClr val="E5D9C3"/>
      </a:lt2>
      <a:accent1>
        <a:srgbClr val="E5D9C3"/>
      </a:accent1>
      <a:accent2>
        <a:srgbClr val="9C8A6B"/>
      </a:accent2>
      <a:accent3>
        <a:srgbClr val="C9B48F"/>
      </a:accent3>
      <a:accent4>
        <a:srgbClr val="6E675C"/>
      </a:accent4>
      <a:accent5>
        <a:srgbClr val="8C3B2A"/>
      </a:accent5>
      <a:accent6>
        <a:srgbClr val="3E6B3A"/>
      </a:accent6>
      <a:hlink>
        <a:srgbClr val="9C8A6B"/>
      </a:hlink>
      <a:folHlink>
        <a:srgbClr val="6E675C"/>
      </a:folHlink>
    </a:clrScheme>
    <a:fontScheme name="Talen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Accountability TALENT</dc:title>
  <dc:subject>PptxGenJS Presentation</dc:subject>
  <dc:creator>Equipo consultor TALENT</dc:creator>
  <cp:lastModifiedBy>Equipo consultor TALENT</cp:lastModifiedBy>
  <cp:revision>1</cp:revision>
  <dcterms:created xsi:type="dcterms:W3CDTF">2026-10-29T02:54:31Z</dcterms:created>
  <dcterms:modified xsi:type="dcterms:W3CDTF">2026-10-29T02:54:31Z</dcterms:modified>
</cp:coreProperties>
</file>