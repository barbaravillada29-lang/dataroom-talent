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Equipo y unidad de análisis" id="{150fed17-f149-d73e-2727-46da3de9a332}">
          <p14:sldIdLst>
            <p14:sldId id="256"/>
            <p14:sldId id="257"/>
            <p14:sldId id="258"/>
          </p14:sldIdLst>
        </p14:section>
        <p14:section name="Modelo de negocio" id="{cef3cc55-b87a-6069-b2d3-393bb9015123}">
          <p14:sldIdLst>
            <p14:sldId id="259"/>
          </p14:sldIdLst>
        </p14:section>
        <p14:section name="Diagnóstico" id="{35f851ce-d7b8-42a6-5e2a-a552e97987c5}">
          <p14:sldIdLst>
            <p14:sldId id="260"/>
            <p14:sldId id="261"/>
            <p14:sldId id="262"/>
            <p14:sldId id="263"/>
          </p14:sldIdLst>
        </p14:section>
        <p14:section name="Ruta y alcance" id="{bd0534d5-7fc1-7636-55c8-48633f32df70}">
          <p14:sldIdLst>
            <p14:sldId id="264"/>
            <p14:sldId id="265"/>
            <p14:sldId id="266"/>
            <p14:sldId id="267"/>
            <p14:sldId id="26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Bienvenida. Presentamos al equipo consultor y el objetivo de la sesión: que TALENT sepa con claridad qué va a recibir de la consultoría y qué no.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Cada integrante se presenta en una frase. Aclarar que Bárbara es la fundadora de TALENT: participa como cliente y no calificó el diagnóstico.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Antes de comprometernos verificamos que TALENT cumple el perfil que exige el curso. Si ya fuera una sociedad, no habría formalización que diagnosticar.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Este es el modelo que reconstruimos con la fundadora. Es la línea base de los cuatro TA. Diferencial: no solo presta el servicio, deja el área funcionando sola.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diagnóstico no se llenó por suposición: se aplicó con la fundadora y cada respuesta tiene su soporte en el Data Room.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Mensaje central: el producto y la marca están listos, lo que falta es la estructura legal. Ocho de doce aspectos todavía no se cumplen.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 regla: seguridad social, licencia SST por medio de la aliada y portafolio. El resto está por resolver.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Cuatro hallazgos y una fortaleza. Subrayar el 03: TALENT va a manejar datos sensibles de empleados de otras empresas sin política ni contratos.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TA1 resuelve formalización, tipo de empresa y marca; TA2 contratos y datos; TA3 la sostenibilidad del negocio; TA4 cierra con la entrega final.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Diapositiva clave para el cliente: qué va a recibir y qué no. Las decisiones y los trámites quedan a cargo de la fundadora.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Lente ética del módulo: explicar al cliente qué hacemos con su información, quién la ve y qué pasa si el diagnóstico es desfavorable.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Cerrar con compromisos concretos del cliente y la fecha de la próxima sesión.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Agradecer, abrir espacio para preguntas del cliente y confirmar la próxima sesión.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OSCURA">
    <p:bg>
      <p:bgPr>
        <a:solidFill>
          <a:srgbClr val="0F0F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355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6E67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TALENT · DIAGNÓSTICO INICIAL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E675C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ARA">
    <p:bg>
      <p:bgPr>
        <a:solidFill>
          <a:srgbClr val="F3EF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355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8A7D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TALENT · DIAGNÓSTICO INICIAL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7D66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RENA">
    <p:bg>
      <p:bgPr>
        <a:solidFill>
          <a:srgbClr val="E5D9C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5D45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E675C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image" Target="../media/image-2-2.jpg"/><Relationship Id="rId3" Type="http://schemas.openxmlformats.org/officeDocument/2006/relationships/image" Target="../media/image-2-3.jpg"/><Relationship Id="rId4" Type="http://schemas.openxmlformats.org/officeDocument/2006/relationships/image" Target="../media/image-2-4.jpg"/><Relationship Id="rId5" Type="http://schemas.openxmlformats.org/officeDocument/2006/relationships/image" Target="../media/image-2-5.jp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320040"/>
            <a:ext cx="4572000" cy="2002536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25146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spc="400" kern="0" dirty="0">
                <a:solidFill>
                  <a:srgbClr val="9C8A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ACCOUNTABILITY · DIAGNÓSTICO INICIAL</a:t>
            </a:r>
            <a:endParaRPr lang="en-US" sz="14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2880360"/>
            <a:ext cx="100584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0000"/>
              </a:lnSpc>
              <a:buNone/>
            </a:pPr>
            <a:r>
              <a:rPr lang="en-US" sz="6600" dirty="0">
                <a:solidFill>
                  <a:srgbClr val="F3EF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Punto de partida</a:t>
            </a:r>
            <a:endParaRPr lang="en-US" sz="660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6600" dirty="0">
                <a:solidFill>
                  <a:srgbClr val="E5D9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TALENT</a:t>
            </a:r>
            <a:endParaRPr lang="en-US" sz="66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480060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A39C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encontramos, lo que vamos a trabajar durante ocho semanas y lo que queda por fuera.</a:t>
            </a:r>
            <a:endParaRPr lang="en-US" sz="20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58064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A39C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Equipo consultor · Laboratorio de Ideas: Creación de Empresa · CEIPA · Docente Santiago Arias Torres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E675C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spc="300" kern="0" dirty="0">
                <a:solidFill>
                  <a:srgbClr val="9C8A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· EQUIPO CONSULTOR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6868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dirty="0">
                <a:solidFill>
                  <a:srgbClr val="F3EF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Cinco consultoras para TALENT</a:t>
            </a:r>
            <a:endParaRPr lang="en-US" sz="4000" dirty="0"/>
          </a:p>
        </p:txBody>
      </p:sp>
      <p:pic>
        <p:nvPicPr>
          <p:cNvPr id="4" name="Image 0" descr="Bárbara Villada Valderrama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965960"/>
            <a:ext cx="2011680" cy="224028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4389120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3EF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Bárbara Villada Valderrama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512064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A39C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Fundadora de TALENT · cliente</a:t>
            </a:r>
            <a:endParaRPr lang="en-US" sz="1300" dirty="0"/>
          </a:p>
        </p:txBody>
      </p:sp>
      <p:pic>
        <p:nvPicPr>
          <p:cNvPr id="7" name="Image 1" descr="Lina Marcela Cataño Fernández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2807208" y="1965960"/>
            <a:ext cx="2011680" cy="224028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2807208" y="4389120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3EF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Lina Marcela Cataño Fernández</a:t>
            </a:r>
            <a:endParaRPr lang="en-US" sz="1600" dirty="0"/>
          </a:p>
        </p:txBody>
      </p:sp>
      <p:sp>
        <p:nvSpPr>
          <p:cNvPr id="9" name="Text 5"/>
          <p:cNvSpPr txBox="1"/>
          <p:nvPr/>
        </p:nvSpPr>
        <p:spPr>
          <a:xfrm>
            <a:off x="2807208" y="512064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A39C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Debida diligencia</a:t>
            </a:r>
            <a:endParaRPr lang="en-US" sz="1300" dirty="0"/>
          </a:p>
        </p:txBody>
      </p:sp>
      <p:pic>
        <p:nvPicPr>
          <p:cNvPr id="10" name="Image 2" descr="Diana Marcela Salazar Ramírez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5065776" y="1965960"/>
            <a:ext cx="2011680" cy="2240280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5065776" y="4389120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3EF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Diana Marcela Salazar Ramírez</a:t>
            </a:r>
            <a:endParaRPr lang="en-US" sz="1600" dirty="0"/>
          </a:p>
        </p:txBody>
      </p:sp>
      <p:sp>
        <p:nvSpPr>
          <p:cNvPr id="12" name="Text 7"/>
          <p:cNvSpPr txBox="1"/>
          <p:nvPr/>
        </p:nvSpPr>
        <p:spPr>
          <a:xfrm>
            <a:off x="5065776" y="512064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A39C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Debida diligencia</a:t>
            </a:r>
            <a:endParaRPr lang="en-US" sz="1300" dirty="0"/>
          </a:p>
        </p:txBody>
      </p:sp>
      <p:pic>
        <p:nvPicPr>
          <p:cNvPr id="13" name="Image 3" descr="Yurany Posada Sánchez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7324344" y="1965960"/>
            <a:ext cx="2011680" cy="2240280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7324344" y="4389120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3EF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Yurany Posada Sánchez</a:t>
            </a:r>
            <a:endParaRPr lang="en-US" sz="1600" dirty="0"/>
          </a:p>
        </p:txBody>
      </p:sp>
      <p:sp>
        <p:nvSpPr>
          <p:cNvPr id="15" name="Text 9"/>
          <p:cNvSpPr txBox="1"/>
          <p:nvPr/>
        </p:nvSpPr>
        <p:spPr>
          <a:xfrm>
            <a:off x="7324344" y="512064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A39C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Cronograma y seguimiento</a:t>
            </a:r>
            <a:endParaRPr lang="en-US" sz="1300" dirty="0"/>
          </a:p>
        </p:txBody>
      </p:sp>
      <p:pic>
        <p:nvPicPr>
          <p:cNvPr id="16" name="Image 4" descr="Carolina Flórez Rúa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9582912" y="1965960"/>
            <a:ext cx="2011680" cy="2240280"/>
          </a:xfrm>
          <a:prstGeom prst="rect">
            <a:avLst/>
          </a:prstGeom>
        </p:spPr>
      </p:pic>
      <p:sp>
        <p:nvSpPr>
          <p:cNvPr id="17" name="Text 10"/>
          <p:cNvSpPr txBox="1"/>
          <p:nvPr/>
        </p:nvSpPr>
        <p:spPr>
          <a:xfrm>
            <a:off x="9582912" y="4389120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3EF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Carolina Flórez Rúa</a:t>
            </a:r>
            <a:endParaRPr lang="en-US" sz="1600" dirty="0"/>
          </a:p>
        </p:txBody>
      </p:sp>
      <p:sp>
        <p:nvSpPr>
          <p:cNvPr id="18" name="Text 11"/>
          <p:cNvSpPr txBox="1"/>
          <p:nvPr/>
        </p:nvSpPr>
        <p:spPr>
          <a:xfrm>
            <a:off x="9582912" y="512064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A39C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Accountability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E675C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spc="300" kern="0" dirty="0">
                <a:solidFill>
                  <a:srgbClr val="9C8A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 · UNIDAD DE ANÁLISIS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6868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dirty="0">
                <a:solidFill>
                  <a:srgbClr val="F3EF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qué TALENT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920240"/>
            <a:ext cx="51206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2000" dirty="0">
                <a:solidFill>
                  <a:srgbClr val="D9D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TALENT ya opera: tiene página web, redes, portafolio y está buscando clientes. Pero todavía no está formalizada, y eso es justo lo que trabaja esta consultoría.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48640" y="3931920"/>
            <a:ext cx="5120640" cy="1051560"/>
          </a:xfrm>
          <a:prstGeom prst="roundRect">
            <a:avLst>
              <a:gd name="adj" fmla="val 13043"/>
            </a:avLst>
          </a:prstGeom>
          <a:solidFill>
            <a:srgbClr val="1A1816"/>
          </a:solidFill>
          <a:ln w="12700">
            <a:solidFill>
              <a:srgbClr val="1A181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4114800"/>
            <a:ext cx="4663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5D9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Cumple el perfil: emprendimiento real, verificable y no formalizado.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400800" y="1965960"/>
            <a:ext cx="384048" cy="384048"/>
          </a:xfrm>
          <a:prstGeom prst="ellipse">
            <a:avLst/>
          </a:prstGeom>
          <a:solidFill>
            <a:srgbClr val="E5D9C3"/>
          </a:solidFill>
          <a:ln w="12700">
            <a:solidFill>
              <a:srgbClr val="E5D9C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00800" y="19659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0F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6995160" y="192024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F3EF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está constituida como sociedad</a:t>
            </a:r>
            <a:endParaRPr lang="en-US" sz="1900" dirty="0"/>
          </a:p>
        </p:txBody>
      </p:sp>
      <p:sp>
        <p:nvSpPr>
          <p:cNvPr id="10" name="Text 8"/>
          <p:cNvSpPr txBox="1"/>
          <p:nvPr/>
        </p:nvSpPr>
        <p:spPr>
          <a:xfrm>
            <a:off x="6995160" y="233172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A39C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 en el RUES por nombre y cédula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400800" y="2788920"/>
            <a:ext cx="5257800" cy="0"/>
          </a:xfrm>
          <a:prstGeom prst="line">
            <a:avLst/>
          </a:prstGeom>
          <a:noFill/>
          <a:ln w="9525">
            <a:solidFill>
              <a:srgbClr val="2E2B2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00800" y="2953512"/>
            <a:ext cx="384048" cy="384048"/>
          </a:xfrm>
          <a:prstGeom prst="ellipse">
            <a:avLst/>
          </a:prstGeom>
          <a:solidFill>
            <a:srgbClr val="E5D9C3"/>
          </a:solidFill>
          <a:ln w="12700">
            <a:solidFill>
              <a:srgbClr val="E5D9C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00800" y="29535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0F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6995160" y="2907792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F3EF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tiene matrícula mercantil</a:t>
            </a:r>
            <a:endParaRPr lang="en-US" sz="1900" dirty="0"/>
          </a:p>
        </p:txBody>
      </p:sp>
      <p:sp>
        <p:nvSpPr>
          <p:cNvPr id="15" name="Text 13"/>
          <p:cNvSpPr txBox="1"/>
          <p:nvPr/>
        </p:nvSpPr>
        <p:spPr>
          <a:xfrm>
            <a:off x="6995160" y="3319272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A39C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RUES y respuesta de la fundadora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400800" y="3776472"/>
            <a:ext cx="5257800" cy="0"/>
          </a:xfrm>
          <a:prstGeom prst="line">
            <a:avLst/>
          </a:prstGeom>
          <a:noFill/>
          <a:ln w="9525">
            <a:solidFill>
              <a:srgbClr val="2E2B2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00800" y="3941064"/>
            <a:ext cx="384048" cy="384048"/>
          </a:xfrm>
          <a:prstGeom prst="ellipse">
            <a:avLst/>
          </a:prstGeom>
          <a:solidFill>
            <a:srgbClr val="E5D9C3"/>
          </a:solidFill>
          <a:ln w="12700">
            <a:solidFill>
              <a:srgbClr val="E5D9C3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400800" y="39410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0F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6995160" y="3895344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F3EF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Existe y se puede verificar</a:t>
            </a:r>
            <a:endParaRPr lang="en-US" sz="1900" dirty="0"/>
          </a:p>
        </p:txBody>
      </p:sp>
      <p:sp>
        <p:nvSpPr>
          <p:cNvPr id="20" name="Text 18"/>
          <p:cNvSpPr txBox="1"/>
          <p:nvPr/>
        </p:nvSpPr>
        <p:spPr>
          <a:xfrm>
            <a:off x="6995160" y="4306824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A39C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Web, Instagram @talent.hhrr, correo y portafolio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6400800" y="4764024"/>
            <a:ext cx="5257800" cy="0"/>
          </a:xfrm>
          <a:prstGeom prst="line">
            <a:avLst/>
          </a:prstGeom>
          <a:noFill/>
          <a:ln w="9525">
            <a:solidFill>
              <a:srgbClr val="2E2B2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400800" y="4928616"/>
            <a:ext cx="384048" cy="384048"/>
          </a:xfrm>
          <a:prstGeom prst="ellipse">
            <a:avLst/>
          </a:prstGeom>
          <a:solidFill>
            <a:srgbClr val="E5D9C3"/>
          </a:solidFill>
          <a:ln w="12700">
            <a:solidFill>
              <a:srgbClr val="E5D9C3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400800" y="49286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0F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6995160" y="4882896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F3EF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Tiene actividad económica real</a:t>
            </a:r>
            <a:endParaRPr lang="en-US" sz="1900" dirty="0"/>
          </a:p>
        </p:txBody>
      </p:sp>
      <p:sp>
        <p:nvSpPr>
          <p:cNvPr id="25" name="Text 23"/>
          <p:cNvSpPr txBox="1"/>
          <p:nvPr/>
        </p:nvSpPr>
        <p:spPr>
          <a:xfrm>
            <a:off x="6995160" y="5294376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A39C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Planes, precios y prospección de empresas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E675C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spc="300" kern="0" dirty="0">
                <a:solidFill>
                  <a:srgbClr val="7A6A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 · MODELO DE NEGOCIO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6868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dirty="0">
                <a:solidFill>
                  <a:srgbClr val="1A17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Así funciona TALENT hoy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2167128" cy="2889504"/>
          </a:xfrm>
          <a:prstGeom prst="roundRect">
            <a:avLst>
              <a:gd name="adj" fmla="val 4219"/>
            </a:avLst>
          </a:prstGeom>
          <a:solidFill>
            <a:srgbClr val="E8E0D2"/>
          </a:solidFill>
          <a:ln w="12700">
            <a:solidFill>
              <a:srgbClr val="E8E0D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1965960"/>
            <a:ext cx="1892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7A6A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SOCIOS CLAVE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2286000"/>
            <a:ext cx="1892808" cy="2340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A17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Asesora SST con licencia, operador de PILA, contador y abogado laboral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770632" y="1828800"/>
            <a:ext cx="2167128" cy="1417320"/>
          </a:xfrm>
          <a:prstGeom prst="roundRect">
            <a:avLst>
              <a:gd name="adj" fmla="val 6452"/>
            </a:avLst>
          </a:prstGeom>
          <a:solidFill>
            <a:srgbClr val="E8E0D2"/>
          </a:solidFill>
          <a:ln w="12700">
            <a:solidFill>
              <a:srgbClr val="E8E0D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907792" y="1965960"/>
            <a:ext cx="1892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7A6A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ACTIVIDADES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2907792" y="2286000"/>
            <a:ext cx="18928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A17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Nómina, selección, SG-SST, políticas y capacitación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770632" y="3300984"/>
            <a:ext cx="2167128" cy="1417320"/>
          </a:xfrm>
          <a:prstGeom prst="roundRect">
            <a:avLst>
              <a:gd name="adj" fmla="val 6452"/>
            </a:avLst>
          </a:prstGeom>
          <a:solidFill>
            <a:srgbClr val="E8E0D2"/>
          </a:solidFill>
          <a:ln w="12700">
            <a:solidFill>
              <a:srgbClr val="E8E0D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907792" y="3438144"/>
            <a:ext cx="1892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7A6A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RECURSOS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2907792" y="3758184"/>
            <a:ext cx="18928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A17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Experiencia de la fundadora, marca, web y plataforma propia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992624" y="1828800"/>
            <a:ext cx="2167128" cy="2889504"/>
          </a:xfrm>
          <a:prstGeom prst="roundRect">
            <a:avLst>
              <a:gd name="adj" fmla="val 4219"/>
            </a:avLst>
          </a:prstGeom>
          <a:solidFill>
            <a:srgbClr val="0F0F0F"/>
          </a:solidFill>
          <a:ln w="12700">
            <a:solidFill>
              <a:srgbClr val="0F0F0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129784" y="1965960"/>
            <a:ext cx="1892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E5D9C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PROPUESTA DE VALOR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5129784" y="2286000"/>
            <a:ext cx="1892808" cy="2340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F3EF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Crear y manejar el área de RRHH con tecnología, y acompañarla hasta que funcione sola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7214616" y="1828800"/>
            <a:ext cx="2167128" cy="1417320"/>
          </a:xfrm>
          <a:prstGeom prst="roundRect">
            <a:avLst>
              <a:gd name="adj" fmla="val 6452"/>
            </a:avLst>
          </a:prstGeom>
          <a:solidFill>
            <a:srgbClr val="E8E0D2"/>
          </a:solidFill>
          <a:ln w="12700">
            <a:solidFill>
              <a:srgbClr val="E8E0D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351776" y="1965960"/>
            <a:ext cx="1892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7A6A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RELACIÓN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7351776" y="2286000"/>
            <a:ext cx="18928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A17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Diagnóstico inicial y acompañamiento mensual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214616" y="3300984"/>
            <a:ext cx="2167128" cy="1417320"/>
          </a:xfrm>
          <a:prstGeom prst="roundRect">
            <a:avLst>
              <a:gd name="adj" fmla="val 6452"/>
            </a:avLst>
          </a:prstGeom>
          <a:solidFill>
            <a:srgbClr val="E8E0D2"/>
          </a:solidFill>
          <a:ln w="12700">
            <a:solidFill>
              <a:srgbClr val="E8E0D2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351776" y="3438144"/>
            <a:ext cx="1892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7A6A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CANALES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7351776" y="3758184"/>
            <a:ext cx="18928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A17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Web, redes, WhatsApp, correo y referidos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9436608" y="1828800"/>
            <a:ext cx="2167128" cy="2889504"/>
          </a:xfrm>
          <a:prstGeom prst="roundRect">
            <a:avLst>
              <a:gd name="adj" fmla="val 4219"/>
            </a:avLst>
          </a:prstGeom>
          <a:solidFill>
            <a:srgbClr val="E5D9C3"/>
          </a:solidFill>
          <a:ln w="12700">
            <a:solidFill>
              <a:srgbClr val="E5D9C3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9573768" y="1965960"/>
            <a:ext cx="1892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6B5D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CLIENTES</a:t>
            </a: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9573768" y="2286000"/>
            <a:ext cx="1892808" cy="2340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A17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Pymes y startups desde 1 empleado, primero en Antioquia y luego en toda Colombia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548640" y="4773168"/>
            <a:ext cx="5500116" cy="1051560"/>
          </a:xfrm>
          <a:prstGeom prst="roundRect">
            <a:avLst>
              <a:gd name="adj" fmla="val 8696"/>
            </a:avLst>
          </a:prstGeom>
          <a:solidFill>
            <a:srgbClr val="DCCFB6"/>
          </a:solidFill>
          <a:ln w="12700">
            <a:solidFill>
              <a:srgbClr val="DCCFB6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85800" y="4910328"/>
            <a:ext cx="52257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6B5D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COSTOS</a:t>
            </a:r>
            <a:endParaRPr lang="en-US" sz="1000" dirty="0"/>
          </a:p>
        </p:txBody>
      </p:sp>
      <p:sp>
        <p:nvSpPr>
          <p:cNvPr id="27" name="Text 25"/>
          <p:cNvSpPr txBox="1"/>
          <p:nvPr/>
        </p:nvSpPr>
        <p:spPr>
          <a:xfrm>
            <a:off x="685800" y="5230368"/>
            <a:ext cx="52257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A17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Tiempo de la fundadora, herramientas digitales, publicidad, aliados y formalización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6103620" y="4773168"/>
            <a:ext cx="5500116" cy="1051560"/>
          </a:xfrm>
          <a:prstGeom prst="roundRect">
            <a:avLst>
              <a:gd name="adj" fmla="val 8696"/>
            </a:avLst>
          </a:prstGeom>
          <a:solidFill>
            <a:srgbClr val="DCCFB6"/>
          </a:solidFill>
          <a:ln w="12700">
            <a:solidFill>
              <a:srgbClr val="DCCFB6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240780" y="4910328"/>
            <a:ext cx="52257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6B5D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INGRESOS</a:t>
            </a:r>
            <a:endParaRPr lang="en-US" sz="1000" dirty="0"/>
          </a:p>
        </p:txBody>
      </p:sp>
      <p:sp>
        <p:nvSpPr>
          <p:cNvPr id="30" name="Text 28"/>
          <p:cNvSpPr txBox="1"/>
          <p:nvPr/>
        </p:nvSpPr>
        <p:spPr>
          <a:xfrm>
            <a:off x="6240780" y="5230368"/>
            <a:ext cx="52257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A17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Planes mensuales según número de empleados, proyectos de SG-SST, diagnóstico de RRHH y planes a la medida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7D66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spc="300" kern="0" dirty="0">
                <a:solidFill>
                  <a:srgbClr val="9C8A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 · CÓMO LO HICIMOS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6868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dirty="0">
                <a:solidFill>
                  <a:srgbClr val="F3EF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diagnóstico con evidencia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3566160" cy="3108960"/>
          </a:xfrm>
          <a:prstGeom prst="roundRect">
            <a:avLst>
              <a:gd name="adj" fmla="val 4412"/>
            </a:avLst>
          </a:prstGeom>
          <a:solidFill>
            <a:srgbClr val="1A1816"/>
          </a:solidFill>
          <a:ln w="12700">
            <a:solidFill>
              <a:srgbClr val="1A181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8680" y="2148840"/>
            <a:ext cx="2926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600" dirty="0">
                <a:solidFill>
                  <a:srgbClr val="E5D9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66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329184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3EF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aspectos revisados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3794760"/>
            <a:ext cx="2926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A39C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cinco frentes: registro, tributario, seguridad social, contratos y datos, marca y operación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325112" y="1920240"/>
            <a:ext cx="3566160" cy="3108960"/>
          </a:xfrm>
          <a:prstGeom prst="roundRect">
            <a:avLst>
              <a:gd name="adj" fmla="val 4412"/>
            </a:avLst>
          </a:prstGeom>
          <a:solidFill>
            <a:srgbClr val="1A1816"/>
          </a:solidFill>
          <a:ln w="12700">
            <a:solidFill>
              <a:srgbClr val="1A181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645152" y="2148840"/>
            <a:ext cx="2926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600" dirty="0">
                <a:solidFill>
                  <a:srgbClr val="E5D9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6600" dirty="0"/>
          </a:p>
        </p:txBody>
      </p:sp>
      <p:sp>
        <p:nvSpPr>
          <p:cNvPr id="10" name="Text 8"/>
          <p:cNvSpPr txBox="1"/>
          <p:nvPr/>
        </p:nvSpPr>
        <p:spPr>
          <a:xfrm>
            <a:off x="4645152" y="329184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3EF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octubre de 2026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4645152" y="3794760"/>
            <a:ext cx="2926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A39C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Reunión virtual por Google Meet con la fundadora de TALENT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101584" y="1920240"/>
            <a:ext cx="3566160" cy="3108960"/>
          </a:xfrm>
          <a:prstGeom prst="roundRect">
            <a:avLst>
              <a:gd name="adj" fmla="val 4412"/>
            </a:avLst>
          </a:prstGeom>
          <a:solidFill>
            <a:srgbClr val="1A1816"/>
          </a:solidFill>
          <a:ln w="12700">
            <a:solidFill>
              <a:srgbClr val="1A181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421624" y="2148840"/>
            <a:ext cx="2926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600" dirty="0">
                <a:solidFill>
                  <a:srgbClr val="E5D9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6600" dirty="0"/>
          </a:p>
        </p:txBody>
      </p:sp>
      <p:sp>
        <p:nvSpPr>
          <p:cNvPr id="14" name="Text 12"/>
          <p:cNvSpPr txBox="1"/>
          <p:nvPr/>
        </p:nvSpPr>
        <p:spPr>
          <a:xfrm>
            <a:off x="8421624" y="329184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3EF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consultoras aplicaron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8421624" y="3794760"/>
            <a:ext cx="2926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A39C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Diana Salazar y Lina Cataño, sin conflicto de interés con el cliente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E675C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spc="300" kern="0" dirty="0">
                <a:solidFill>
                  <a:srgbClr val="6B5D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 · RESULTADO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105156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6000" dirty="0">
                <a:solidFill>
                  <a:srgbClr val="1412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TALENT está lista para vender, pero no para facturar</a:t>
            </a:r>
            <a:endParaRPr lang="en-US" sz="6000" dirty="0"/>
          </a:p>
        </p:txBody>
      </p:sp>
      <p:sp>
        <p:nvSpPr>
          <p:cNvPr id="4" name="Shape 2"/>
          <p:cNvSpPr/>
          <p:nvPr/>
        </p:nvSpPr>
        <p:spPr>
          <a:xfrm>
            <a:off x="548640" y="4206240"/>
            <a:ext cx="2743200" cy="0"/>
          </a:xfrm>
          <a:prstGeom prst="line">
            <a:avLst/>
          </a:prstGeom>
          <a:noFill/>
          <a:ln w="31750">
            <a:solidFill>
              <a:srgbClr val="14120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438912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600" dirty="0">
                <a:solidFill>
                  <a:srgbClr val="1412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56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534924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412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cumplen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3520440" y="4206240"/>
            <a:ext cx="2743200" cy="0"/>
          </a:xfrm>
          <a:prstGeom prst="line">
            <a:avLst/>
          </a:prstGeom>
          <a:noFill/>
          <a:ln w="31750">
            <a:solidFill>
              <a:srgbClr val="14120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520440" y="438912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600" dirty="0">
                <a:solidFill>
                  <a:srgbClr val="1412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5600" dirty="0"/>
          </a:p>
        </p:txBody>
      </p:sp>
      <p:sp>
        <p:nvSpPr>
          <p:cNvPr id="9" name="Text 7"/>
          <p:cNvSpPr txBox="1"/>
          <p:nvPr/>
        </p:nvSpPr>
        <p:spPr>
          <a:xfrm>
            <a:off x="3520440" y="534924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412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cumple parcialmente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6492240" y="4206240"/>
            <a:ext cx="5120640" cy="0"/>
          </a:xfrm>
          <a:prstGeom prst="line">
            <a:avLst/>
          </a:prstGeom>
          <a:noFill/>
          <a:ln w="31750">
            <a:solidFill>
              <a:srgbClr val="8C3B2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92240" y="4389120"/>
            <a:ext cx="5120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600" dirty="0">
                <a:solidFill>
                  <a:srgbClr val="8C3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5600" dirty="0"/>
          </a:p>
        </p:txBody>
      </p:sp>
      <p:sp>
        <p:nvSpPr>
          <p:cNvPr id="12" name="Text 10"/>
          <p:cNvSpPr txBox="1"/>
          <p:nvPr/>
        </p:nvSpPr>
        <p:spPr>
          <a:xfrm>
            <a:off x="6492240" y="5349240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412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cumplen, de 12 aspectos revisados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5D45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spc="300" kern="0" dirty="0">
                <a:solidFill>
                  <a:srgbClr val="7A6A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 · DETALLE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6868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dirty="0">
                <a:solidFill>
                  <a:srgbClr val="1A17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12 aspectos, uno por uno</a:t>
            </a:r>
            <a:endParaRPr lang="en-US" sz="40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74520"/>
          <a:ext cx="9144000" cy="914400"/>
        </p:xfrm>
        <a:graphic>
          <a:graphicData uri="http://schemas.openxmlformats.org/drawingml/2006/table">
            <a:tbl>
              <a:tblPr/>
              <a:tblGrid>
                <a:gridCol w="3749040"/>
                <a:gridCol w="155448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E5D9C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Aspecto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9CD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CD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CD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CD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0F0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E5D9C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Estado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9CD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CD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CD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CD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0F0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A17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Matrícula en Cámara de Comercio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9CD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CD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CD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CD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FE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8C3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cumple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9CD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CD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CD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CD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FE7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A17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Tipo de empresa definido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9CD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CD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CD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CD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6D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8C3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cumple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9CD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CD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CD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CD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6D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A17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RUT con la actividad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9CD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CD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CD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CD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FE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8A6A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Parcial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9CD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CD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CD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CD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FE7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A17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Facturación electrónica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9CD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CD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CD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CD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6D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8C3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cumple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9CD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CD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CD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CD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6D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A17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Régimen tributario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9CD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CD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CD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CD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FE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8C3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cumple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9CD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CD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CD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CD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FE7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A17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Seguridad social independiente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9CD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CD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CD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CD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6D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3E6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Cumple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9CD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CD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CD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CD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6DA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55080" y="1874520"/>
          <a:ext cx="9144000" cy="914400"/>
        </p:xfrm>
        <a:graphic>
          <a:graphicData uri="http://schemas.openxmlformats.org/drawingml/2006/table">
            <a:tbl>
              <a:tblPr/>
              <a:tblGrid>
                <a:gridCol w="3749040"/>
                <a:gridCol w="155448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E5D9C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Aspecto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9CD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CD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CD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CD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0F0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E5D9C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Estado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9CD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CD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CD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CD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0F0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A17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Contrato modelo con clientes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9CD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CD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CD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CD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FE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8C3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cumple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9CD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CD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CD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CD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FE7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A17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Política de datos personales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9CD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CD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CD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CD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6D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8C3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cumple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9CD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CD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CD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CD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6D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A17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Marca registrada ante la SIC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9CD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CD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CD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CD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FE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8C3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cumple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9CD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CD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CD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CD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FE7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A17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Licencia SST (aliada)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9CD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CD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CD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CD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6D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3E6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Cumple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9CD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CD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CD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CD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6D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A17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Cuenta bancaria separada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9CD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CD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CD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CD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FE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8C3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cumple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9CD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CD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CD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CD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FE7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A17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Portafolio y precios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9CD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CD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CD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CD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6D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3E6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Cumple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9CD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CD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CD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CD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6DA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7D66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spc="300" kern="0" dirty="0">
                <a:solidFill>
                  <a:srgbClr val="9C8A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 · HALLAZGOS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6868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dirty="0">
                <a:solidFill>
                  <a:srgbClr val="F3EF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encontramos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440680" cy="1463040"/>
          </a:xfrm>
          <a:prstGeom prst="roundRect">
            <a:avLst>
              <a:gd name="adj" fmla="val 9375"/>
            </a:avLst>
          </a:prstGeom>
          <a:solidFill>
            <a:srgbClr val="1A1816"/>
          </a:solidFill>
          <a:ln w="12700">
            <a:solidFill>
              <a:srgbClr val="1A181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2029968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spc="100" kern="0" dirty="0">
                <a:solidFill>
                  <a:srgbClr val="E5D9C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· FORMALIZACIÓN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377440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D9D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matrícula, facturación electrónica ni cuenta bancaria propia. Hoy no puede facturarles a las pymes que quiere tener como clientes.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172200" y="1828800"/>
            <a:ext cx="5440680" cy="1463040"/>
          </a:xfrm>
          <a:prstGeom prst="roundRect">
            <a:avLst>
              <a:gd name="adj" fmla="val 9375"/>
            </a:avLst>
          </a:prstGeom>
          <a:solidFill>
            <a:srgbClr val="1A1816"/>
          </a:solidFill>
          <a:ln w="12700">
            <a:solidFill>
              <a:srgbClr val="1A181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46520" y="2029968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spc="100" kern="0" dirty="0">
                <a:solidFill>
                  <a:srgbClr val="E5D9C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 · TIPO DE EMPRESA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6446520" y="2377440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D9D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Falta decidir entre persona natural o S.A.S. De esa decisión dependen los demás trámites y la llegada de inversionistas.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48640" y="3429000"/>
            <a:ext cx="5440680" cy="1463040"/>
          </a:xfrm>
          <a:prstGeom prst="roundRect">
            <a:avLst>
              <a:gd name="adj" fmla="val 9375"/>
            </a:avLst>
          </a:prstGeom>
          <a:solidFill>
            <a:srgbClr val="1A1816"/>
          </a:solidFill>
          <a:ln w="12700">
            <a:solidFill>
              <a:srgbClr val="1A181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22960" y="3630168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spc="100" kern="0" dirty="0">
                <a:solidFill>
                  <a:srgbClr val="E5D9C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 · CONTRATOS Y DATOS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822960" y="3977640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D9D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hay contrato con clientes ni política de datos, aunque manejará nómina e incapacidades de terceros. Es el riesgo más alto.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172200" y="3429000"/>
            <a:ext cx="5440680" cy="1463040"/>
          </a:xfrm>
          <a:prstGeom prst="roundRect">
            <a:avLst>
              <a:gd name="adj" fmla="val 9375"/>
            </a:avLst>
          </a:prstGeom>
          <a:solidFill>
            <a:srgbClr val="1A1816"/>
          </a:solidFill>
          <a:ln w="12700">
            <a:solidFill>
              <a:srgbClr val="1A1816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446520" y="3630168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spc="100" kern="0" dirty="0">
                <a:solidFill>
                  <a:srgbClr val="E5D9C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 · MARCA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6446520" y="3977640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D9D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está registrada y “Talent” es una palabra muy común en RRHH. Hay que revisar si se puede registrar.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548640" y="5120640"/>
            <a:ext cx="11064240" cy="868680"/>
          </a:xfrm>
          <a:prstGeom prst="roundRect">
            <a:avLst>
              <a:gd name="adj" fmla="val 15789"/>
            </a:avLst>
          </a:prstGeom>
          <a:solidFill>
            <a:srgbClr val="E5D9C3"/>
          </a:solidFill>
          <a:ln w="12700">
            <a:solidFill>
              <a:srgbClr val="E5D9C3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22960" y="5120640"/>
            <a:ext cx="10607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12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Fortaleza: </a:t>
            </a:r>
            <a:pPr indent="0" marL="0">
              <a:buNone/>
            </a:pPr>
            <a:r>
              <a:rPr lang="en-US" sz="1700" dirty="0">
                <a:solidFill>
                  <a:srgbClr val="1412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portafolio claro, marca y web listas, seguridad social al día y una aliada con licencia en SST.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E675C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spc="300" kern="0" dirty="0">
                <a:solidFill>
                  <a:srgbClr val="9C8A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08 · RUTA DE INTERVENCIÓN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6868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dirty="0">
                <a:solidFill>
                  <a:srgbClr val="F3EF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trabajamos en cada entrega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548640" y="2148840"/>
            <a:ext cx="2606040" cy="64008"/>
          </a:xfrm>
          <a:prstGeom prst="rect">
            <a:avLst/>
          </a:prstGeom>
          <a:solidFill>
            <a:srgbClr val="E5D9C3"/>
          </a:solidFill>
          <a:ln w="12700">
            <a:solidFill>
              <a:srgbClr val="E5D9C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242316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C8A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Semana 3 · 2–8 nov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788920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dirty="0">
                <a:solidFill>
                  <a:srgbClr val="E5D9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TA1</a:t>
            </a:r>
            <a:endParaRPr lang="en-US" sz="36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47472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3EF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Formalización de entrada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3977640"/>
            <a:ext cx="2468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A39C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 societario, estatutos de la S.A.S. y registrabilidad de la marca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383280" y="2148840"/>
            <a:ext cx="2606040" cy="64008"/>
          </a:xfrm>
          <a:prstGeom prst="rect">
            <a:avLst/>
          </a:prstGeom>
          <a:solidFill>
            <a:srgbClr val="C9B48F"/>
          </a:solidFill>
          <a:ln w="12700">
            <a:solidFill>
              <a:srgbClr val="C9B48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383280" y="242316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C8A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Semana 5 · 16–22 nov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3383280" y="2788920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dirty="0">
                <a:solidFill>
                  <a:srgbClr val="E5D9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TA2</a:t>
            </a:r>
            <a:endParaRPr lang="en-US" sz="3600" dirty="0"/>
          </a:p>
        </p:txBody>
      </p:sp>
      <p:sp>
        <p:nvSpPr>
          <p:cNvPr id="12" name="Text 10"/>
          <p:cNvSpPr txBox="1"/>
          <p:nvPr/>
        </p:nvSpPr>
        <p:spPr>
          <a:xfrm>
            <a:off x="3383280" y="347472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3EF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Expansión empresarial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3383280" y="3977640"/>
            <a:ext cx="2468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A39C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Consumidores, términos y condiciones, datos personales y contratos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217920" y="2148840"/>
            <a:ext cx="2606040" cy="64008"/>
          </a:xfrm>
          <a:prstGeom prst="rect">
            <a:avLst/>
          </a:prstGeom>
          <a:solidFill>
            <a:srgbClr val="9C8A6B"/>
          </a:solidFill>
          <a:ln w="12700">
            <a:solidFill>
              <a:srgbClr val="9C8A6B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217920" y="242316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C8A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Semana 7 · 30 nov–6 dic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6217920" y="2788920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dirty="0">
                <a:solidFill>
                  <a:srgbClr val="E5D9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TA3</a:t>
            </a:r>
            <a:endParaRPr lang="en-US" sz="3600" dirty="0"/>
          </a:p>
        </p:txBody>
      </p:sp>
      <p:sp>
        <p:nvSpPr>
          <p:cNvPr id="17" name="Text 15"/>
          <p:cNvSpPr txBox="1"/>
          <p:nvPr/>
        </p:nvSpPr>
        <p:spPr>
          <a:xfrm>
            <a:off x="6217920" y="347472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3EF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Crisis empresarial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6217920" y="3977640"/>
            <a:ext cx="2468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A39C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Riesgos financieros, Ley 1116 de 2006 y continuidad del negocio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9052560" y="2148840"/>
            <a:ext cx="2606040" cy="64008"/>
          </a:xfrm>
          <a:prstGeom prst="rect">
            <a:avLst/>
          </a:prstGeom>
          <a:solidFill>
            <a:srgbClr val="6E675C"/>
          </a:solidFill>
          <a:ln w="12700">
            <a:solidFill>
              <a:srgbClr val="6E675C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9052560" y="242316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C8A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Semanas 7–8 · 30 nov–11 dic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9052560" y="2788920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dirty="0">
                <a:solidFill>
                  <a:srgbClr val="E5D9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TA4</a:t>
            </a:r>
            <a:endParaRPr lang="en-US" sz="3600" dirty="0"/>
          </a:p>
        </p:txBody>
      </p:sp>
      <p:sp>
        <p:nvSpPr>
          <p:cNvPr id="22" name="Text 20"/>
          <p:cNvSpPr txBox="1"/>
          <p:nvPr/>
        </p:nvSpPr>
        <p:spPr>
          <a:xfrm>
            <a:off x="9052560" y="347472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3EF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Sustentación</a:t>
            </a:r>
            <a:endParaRPr lang="en-US" sz="1800" dirty="0"/>
          </a:p>
        </p:txBody>
      </p:sp>
      <p:sp>
        <p:nvSpPr>
          <p:cNvPr id="23" name="Text 21"/>
          <p:cNvSpPr txBox="1"/>
          <p:nvPr/>
        </p:nvSpPr>
        <p:spPr>
          <a:xfrm>
            <a:off x="9052560" y="3977640"/>
            <a:ext cx="2468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A39C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prepara desde la semana 7 y se entrega a TALENT en la semana 8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E675C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spc="300" kern="0" dirty="0">
                <a:solidFill>
                  <a:srgbClr val="7A6A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09 · ALCANCE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6868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dirty="0">
                <a:solidFill>
                  <a:srgbClr val="1A17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recibe TALENT y qué no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440680" cy="4206240"/>
          </a:xfrm>
          <a:prstGeom prst="roundRect">
            <a:avLst>
              <a:gd name="adj" fmla="val 4348"/>
            </a:avLst>
          </a:prstGeom>
          <a:solidFill>
            <a:srgbClr val="0F0F0F"/>
          </a:solidFill>
          <a:ln w="12700">
            <a:solidFill>
              <a:srgbClr val="0F0F0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210312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E5D9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Sí recibirá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2743200"/>
            <a:ext cx="475488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D9D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Recomendación de tipo de empresa con ventajas y desventajas</a:t>
            </a:r>
            <a:endParaRPr lang="en-US" sz="15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D9D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Paso a paso para formalizarse: RUT, matrícula y facturación</a:t>
            </a:r>
            <a:endParaRPr lang="en-US" sz="15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D9D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Revisión de los estatutos de la S.A.S.</a:t>
            </a:r>
            <a:endParaRPr lang="en-US" sz="15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D9D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de registrabilidad de la marca</a:t>
            </a:r>
            <a:endParaRPr lang="en-US" sz="15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D9D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Contrato modelo, términos y política de datos</a:t>
            </a:r>
            <a:endParaRPr lang="en-US" sz="15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D9D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de riesgos y continuidad del negocio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172200" y="1828800"/>
            <a:ext cx="5440680" cy="4206240"/>
          </a:xfrm>
          <a:prstGeom prst="roundRect">
            <a:avLst>
              <a:gd name="adj" fmla="val 4348"/>
            </a:avLst>
          </a:prstGeom>
          <a:solidFill>
            <a:srgbClr val="E5D9C3"/>
          </a:solidFill>
          <a:ln w="12700">
            <a:solidFill>
              <a:srgbClr val="E5D9C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537960" y="210312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412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No incluye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6537960" y="2743200"/>
            <a:ext cx="475488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B35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Hacer trámites o pagos a nombre de TALENT</a:t>
            </a:r>
            <a:endParaRPr lang="en-US" sz="15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B35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Llevar la contabilidad o declarar impuestos</a:t>
            </a:r>
            <a:endParaRPr lang="en-US" sz="15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B35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Asesoría legal con responsabilidad de abogado</a:t>
            </a:r>
            <a:endParaRPr lang="en-US" sz="15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B35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Radicar y seguir el registro de marca en la SIC</a:t>
            </a:r>
            <a:endParaRPr lang="en-US" sz="15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B35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Desarrollar la plataforma tecnológica</a:t>
            </a:r>
            <a:endParaRPr lang="en-US" sz="15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B35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Buscar inversionistas o clientes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7D66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spc="300" kern="0" dirty="0">
                <a:solidFill>
                  <a:srgbClr val="9C8A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 · TU INFORMACIÓN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6868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dirty="0">
                <a:solidFill>
                  <a:srgbClr val="F3EF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cuidamos la información de TALENT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3566160" cy="3291840"/>
          </a:xfrm>
          <a:prstGeom prst="roundRect">
            <a:avLst>
              <a:gd name="adj" fmla="val 4167"/>
            </a:avLst>
          </a:prstGeom>
          <a:solidFill>
            <a:srgbClr val="1A1816"/>
          </a:solidFill>
          <a:ln w="12700">
            <a:solidFill>
              <a:srgbClr val="1A181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2194560"/>
            <a:ext cx="502920" cy="502920"/>
          </a:xfrm>
          <a:prstGeom prst="ellipse">
            <a:avLst/>
          </a:prstGeom>
          <a:solidFill>
            <a:srgbClr val="E5D9C3"/>
          </a:solidFill>
          <a:ln w="12700">
            <a:solidFill>
              <a:srgbClr val="E5D9C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68680" y="21945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0F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292608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3EF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hacemos con ella?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3703320"/>
            <a:ext cx="2926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A39C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usamos solo para el diagnóstico y los entregables del curso. No la compartimos con terceros.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325112" y="1920240"/>
            <a:ext cx="3566160" cy="3291840"/>
          </a:xfrm>
          <a:prstGeom prst="roundRect">
            <a:avLst>
              <a:gd name="adj" fmla="val 4167"/>
            </a:avLst>
          </a:prstGeom>
          <a:solidFill>
            <a:srgbClr val="1A1816"/>
          </a:solidFill>
          <a:ln w="12700">
            <a:solidFill>
              <a:srgbClr val="1A181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645152" y="2194560"/>
            <a:ext cx="502920" cy="502920"/>
          </a:xfrm>
          <a:prstGeom prst="ellipse">
            <a:avLst/>
          </a:prstGeom>
          <a:solidFill>
            <a:srgbClr val="E5D9C3"/>
          </a:solidFill>
          <a:ln w="12700">
            <a:solidFill>
              <a:srgbClr val="E5D9C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645152" y="21945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0F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4645152" y="292608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3EF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¿Quién la ve?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4645152" y="3703320"/>
            <a:ext cx="2926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A39C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equipo consultor y el docente. Los documentos personales (RUT, PILA, cédula) no se publican en el Data Room.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8101584" y="1920240"/>
            <a:ext cx="3566160" cy="3291840"/>
          </a:xfrm>
          <a:prstGeom prst="roundRect">
            <a:avLst>
              <a:gd name="adj" fmla="val 4167"/>
            </a:avLst>
          </a:prstGeom>
          <a:solidFill>
            <a:srgbClr val="1A1816"/>
          </a:solidFill>
          <a:ln w="12700">
            <a:solidFill>
              <a:srgbClr val="1A181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421624" y="2194560"/>
            <a:ext cx="502920" cy="502920"/>
          </a:xfrm>
          <a:prstGeom prst="ellipse">
            <a:avLst/>
          </a:prstGeom>
          <a:solidFill>
            <a:srgbClr val="E5D9C3"/>
          </a:solidFill>
          <a:ln w="12700">
            <a:solidFill>
              <a:srgbClr val="E5D9C3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421624" y="21945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0F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8421624" y="292608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3EF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¿Y si el resultado es desfavorable?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8421624" y="3703320"/>
            <a:ext cx="2926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A39C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reportamos tal como es, con recomendaciones. Tú decides qué hacer y puedes pedir aclaraciones o retirar información.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54864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E5D9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Consentimiento informado: </a:t>
            </a:r>
            <a:pPr indent="0" marL="0">
              <a:buNone/>
            </a:pPr>
            <a:r>
              <a:rPr lang="en-US" sz="1500" dirty="0">
                <a:solidFill>
                  <a:srgbClr val="D9D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tu aceptación del alcance confirmas que conoces y aceptas este manejo de la información.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E675C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spc="300" kern="0" dirty="0">
                <a:solidFill>
                  <a:srgbClr val="9C8A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 · PRÓXIMOS PASOS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6868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dirty="0">
                <a:solidFill>
                  <a:srgbClr val="F3EF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necesitamos de TALENT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920240"/>
            <a:ext cx="48463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2000" dirty="0">
                <a:solidFill>
                  <a:srgbClr val="D9D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empezar TA1 el 2 de noviembre, pedimos a la fundadora estos soportes y su aceptación del alcance.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6309360" y="192024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5D9C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949440" y="192024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F3EF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Firmar el acta del diagnóstico</a:t>
            </a:r>
            <a:endParaRPr lang="en-US" sz="1900" dirty="0"/>
          </a:p>
        </p:txBody>
      </p:sp>
      <p:sp>
        <p:nvSpPr>
          <p:cNvPr id="7" name="Text 5"/>
          <p:cNvSpPr txBox="1"/>
          <p:nvPr/>
        </p:nvSpPr>
        <p:spPr>
          <a:xfrm>
            <a:off x="6949440" y="233172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A39C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Confirma las respuestas del 27 de octubre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309360" y="2788920"/>
            <a:ext cx="5349240" cy="0"/>
          </a:xfrm>
          <a:prstGeom prst="line">
            <a:avLst/>
          </a:prstGeom>
          <a:noFill/>
          <a:ln w="9525">
            <a:solidFill>
              <a:srgbClr val="2E2B27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309360" y="2907792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5D9C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6949440" y="2907792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F3EF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Compartir los soportes</a:t>
            </a:r>
            <a:endParaRPr lang="en-US" sz="1900" dirty="0"/>
          </a:p>
        </p:txBody>
      </p:sp>
      <p:sp>
        <p:nvSpPr>
          <p:cNvPr id="11" name="Text 9"/>
          <p:cNvSpPr txBox="1"/>
          <p:nvPr/>
        </p:nvSpPr>
        <p:spPr>
          <a:xfrm>
            <a:off x="6949440" y="3319272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A39C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RUT, planilla PILA y licencia SST de la aliada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309360" y="3776472"/>
            <a:ext cx="5349240" cy="0"/>
          </a:xfrm>
          <a:prstGeom prst="line">
            <a:avLst/>
          </a:prstGeom>
          <a:noFill/>
          <a:ln w="9525">
            <a:solidFill>
              <a:srgbClr val="2E2B27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309360" y="3895344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5D9C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6949440" y="3895344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F3EF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Aceptar alcance y uso de datos</a:t>
            </a:r>
            <a:endParaRPr lang="en-US" sz="1900" dirty="0"/>
          </a:p>
        </p:txBody>
      </p:sp>
      <p:sp>
        <p:nvSpPr>
          <p:cNvPr id="15" name="Text 13"/>
          <p:cNvSpPr txBox="1"/>
          <p:nvPr/>
        </p:nvSpPr>
        <p:spPr>
          <a:xfrm>
            <a:off x="6949440" y="4306824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A39C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recibe, lo que no y cómo cuidamos su información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309360" y="4764024"/>
            <a:ext cx="5349240" cy="0"/>
          </a:xfrm>
          <a:prstGeom prst="line">
            <a:avLst/>
          </a:prstGeom>
          <a:noFill/>
          <a:ln w="9525">
            <a:solidFill>
              <a:srgbClr val="2E2B27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309360" y="4882896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5D9C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6949440" y="4882896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F3EF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Agendar la sesión de TA1</a:t>
            </a:r>
            <a:endParaRPr lang="en-US" sz="1900" dirty="0"/>
          </a:p>
        </p:txBody>
      </p:sp>
      <p:sp>
        <p:nvSpPr>
          <p:cNvPr id="19" name="Text 17"/>
          <p:cNvSpPr txBox="1"/>
          <p:nvPr/>
        </p:nvSpPr>
        <p:spPr>
          <a:xfrm>
            <a:off x="6949440" y="5294376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A39C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Semana del 2 de noviembre, por Meet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E675C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s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58968" y="1188720"/>
            <a:ext cx="1280160" cy="128016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371600" y="2697480"/>
            <a:ext cx="944575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200" dirty="0">
                <a:solidFill>
                  <a:srgbClr val="F3EF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Gracias</a:t>
            </a:r>
            <a:endParaRPr lang="en-US" sz="7200" dirty="0"/>
          </a:p>
        </p:txBody>
      </p:sp>
      <p:sp>
        <p:nvSpPr>
          <p:cNvPr id="4" name="Text 1"/>
          <p:cNvSpPr txBox="1"/>
          <p:nvPr/>
        </p:nvSpPr>
        <p:spPr>
          <a:xfrm>
            <a:off x="1371600" y="3977640"/>
            <a:ext cx="9445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dirty="0">
                <a:solidFill>
                  <a:srgbClr val="A39C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Equipo consultor · Bárbara, Lina, Diana, Yurany y Carolina</a:t>
            </a:r>
            <a:endParaRPr lang="en-US" sz="2000" dirty="0"/>
          </a:p>
        </p:txBody>
      </p:sp>
      <p:sp>
        <p:nvSpPr>
          <p:cNvPr id="5" name="Text 2"/>
          <p:cNvSpPr txBox="1"/>
          <p:nvPr/>
        </p:nvSpPr>
        <p:spPr>
          <a:xfrm>
            <a:off x="1371600" y="4617720"/>
            <a:ext cx="94457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spc="500" kern="0" dirty="0">
                <a:solidFill>
                  <a:srgbClr val="9C8A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PEOPLE INFRASTRUCTURE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E675C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alent">
  <a:themeElements>
    <a:clrScheme name="Talent">
      <a:dk1>
        <a:srgbClr val="0F0F0F"/>
      </a:dk1>
      <a:lt1>
        <a:srgbClr val="F3EFE7"/>
      </a:lt1>
      <a:dk2>
        <a:srgbClr val="1A1816"/>
      </a:dk2>
      <a:lt2>
        <a:srgbClr val="E5D9C3"/>
      </a:lt2>
      <a:accent1>
        <a:srgbClr val="E5D9C3"/>
      </a:accent1>
      <a:accent2>
        <a:srgbClr val="9C8A6B"/>
      </a:accent2>
      <a:accent3>
        <a:srgbClr val="C9B48F"/>
      </a:accent3>
      <a:accent4>
        <a:srgbClr val="6E675C"/>
      </a:accent4>
      <a:accent5>
        <a:srgbClr val="8C3B2A"/>
      </a:accent5>
      <a:accent6>
        <a:srgbClr val="3E6B3A"/>
      </a:accent6>
      <a:hlink>
        <a:srgbClr val="9C8A6B"/>
      </a:hlink>
      <a:folHlink>
        <a:srgbClr val="6E675C"/>
      </a:folHlink>
    </a:clrScheme>
    <a:fontScheme name="Talent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Accountability TALENT</dc:title>
  <dc:subject>PptxGenJS Presentation</dc:subject>
  <dc:creator>Equipo consultor TALENT</dc:creator>
  <cp:lastModifiedBy>Equipo consultor TALENT</cp:lastModifiedBy>
  <cp:revision>1</cp:revision>
  <dcterms:created xsi:type="dcterms:W3CDTF">2026-10-29T02:57:09Z</dcterms:created>
  <dcterms:modified xsi:type="dcterms:W3CDTF">2026-10-29T02:57:09Z</dcterms:modified>
</cp:coreProperties>
</file>